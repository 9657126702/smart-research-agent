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0" r:id="rId9"/>
    <p:sldId id="291" r:id="rId10"/>
    <p:sldId id="292" r:id="rId11"/>
    <p:sldId id="262" r:id="rId12"/>
    <p:sldId id="264" r:id="rId13"/>
    <p:sldId id="286" r:id="rId14"/>
    <p:sldId id="287" r:id="rId15"/>
    <p:sldId id="280" r:id="rId16"/>
    <p:sldId id="288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ika Patil" userId="e259d71080acc343" providerId="LiveId" clId="{908F7D51-A947-4C13-8772-68EB5218250E}"/>
    <pc:docChg chg="custSel modSld">
      <pc:chgData name="Rasika Patil" userId="e259d71080acc343" providerId="LiveId" clId="{908F7D51-A947-4C13-8772-68EB5218250E}" dt="2026-09-23T07:42:15.888" v="285" actId="20577"/>
      <pc:docMkLst>
        <pc:docMk/>
      </pc:docMkLst>
      <pc:sldChg chg="addSp delSp modSp mod">
        <pc:chgData name="Rasika Patil" userId="e259d71080acc343" providerId="LiveId" clId="{908F7D51-A947-4C13-8772-68EB5218250E}" dt="2026-09-23T07:39:58.181" v="284" actId="14100"/>
        <pc:sldMkLst>
          <pc:docMk/>
          <pc:sldMk cId="0" sldId="257"/>
        </pc:sldMkLst>
        <pc:spChg chg="mod">
          <ac:chgData name="Rasika Patil" userId="e259d71080acc343" providerId="LiveId" clId="{908F7D51-A947-4C13-8772-68EB5218250E}" dt="2026-09-23T07:03:20.803" v="86" actId="20577"/>
          <ac:spMkLst>
            <pc:docMk/>
            <pc:sldMk cId="0" sldId="257"/>
            <ac:spMk id="4" creationId="{A828B9EF-C084-F5D4-CA27-75AF7D995640}"/>
          </ac:spMkLst>
        </pc:spChg>
        <pc:spChg chg="mod">
          <ac:chgData name="Rasika Patil" userId="e259d71080acc343" providerId="LiveId" clId="{908F7D51-A947-4C13-8772-68EB5218250E}" dt="2026-09-23T07:04:23.231" v="132" actId="20577"/>
          <ac:spMkLst>
            <pc:docMk/>
            <pc:sldMk cId="0" sldId="257"/>
            <ac:spMk id="7" creationId="{3D723CA3-EC2D-165A-F109-3759C4E9C8A4}"/>
          </ac:spMkLst>
        </pc:spChg>
        <pc:picChg chg="add mod">
          <ac:chgData name="Rasika Patil" userId="e259d71080acc343" providerId="LiveId" clId="{908F7D51-A947-4C13-8772-68EB5218250E}" dt="2026-09-23T07:39:58.181" v="284" actId="14100"/>
          <ac:picMkLst>
            <pc:docMk/>
            <pc:sldMk cId="0" sldId="257"/>
            <ac:picMk id="3" creationId="{0C947600-AA43-3F9F-319B-172CC0B27E43}"/>
          </ac:picMkLst>
        </pc:picChg>
        <pc:picChg chg="del mod">
          <ac:chgData name="Rasika Patil" userId="e259d71080acc343" providerId="LiveId" clId="{908F7D51-A947-4C13-8772-68EB5218250E}" dt="2026-09-23T07:38:48.119" v="267" actId="478"/>
          <ac:picMkLst>
            <pc:docMk/>
            <pc:sldMk cId="0" sldId="257"/>
            <ac:picMk id="5" creationId="{21F4DDA2-181F-3BB2-60F0-541BC1CAC687}"/>
          </ac:picMkLst>
        </pc:picChg>
      </pc:sldChg>
      <pc:sldChg chg="addSp delSp modSp mod">
        <pc:chgData name="Rasika Patil" userId="e259d71080acc343" providerId="LiveId" clId="{908F7D51-A947-4C13-8772-68EB5218250E}" dt="2026-09-23T07:33:54.967" v="143" actId="14100"/>
        <pc:sldMkLst>
          <pc:docMk/>
          <pc:sldMk cId="0" sldId="262"/>
        </pc:sldMkLst>
        <pc:picChg chg="del">
          <ac:chgData name="Rasika Patil" userId="e259d71080acc343" providerId="LiveId" clId="{908F7D51-A947-4C13-8772-68EB5218250E}" dt="2026-09-23T07:33:34.835" v="138" actId="478"/>
          <ac:picMkLst>
            <pc:docMk/>
            <pc:sldMk cId="0" sldId="262"/>
            <ac:picMk id="3" creationId="{81932CE2-F219-0CA8-0102-55B8C682B8A2}"/>
          </ac:picMkLst>
        </pc:picChg>
        <pc:picChg chg="add mod">
          <ac:chgData name="Rasika Patil" userId="e259d71080acc343" providerId="LiveId" clId="{908F7D51-A947-4C13-8772-68EB5218250E}" dt="2026-09-23T07:33:54.967" v="143" actId="14100"/>
          <ac:picMkLst>
            <pc:docMk/>
            <pc:sldMk cId="0" sldId="262"/>
            <ac:picMk id="5" creationId="{59E26918-899B-6B59-1A39-8DF9AA5D063F}"/>
          </ac:picMkLst>
        </pc:picChg>
      </pc:sldChg>
      <pc:sldChg chg="modSp mod">
        <pc:chgData name="Rasika Patil" userId="e259d71080acc343" providerId="LiveId" clId="{908F7D51-A947-4C13-8772-68EB5218250E}" dt="2026-09-23T07:27:13.570" v="136" actId="403"/>
        <pc:sldMkLst>
          <pc:docMk/>
          <pc:sldMk cId="3764405840" sldId="278"/>
        </pc:sldMkLst>
        <pc:spChg chg="mod">
          <ac:chgData name="Rasika Patil" userId="e259d71080acc343" providerId="LiveId" clId="{908F7D51-A947-4C13-8772-68EB5218250E}" dt="2026-09-23T07:27:13.570" v="136" actId="403"/>
          <ac:spMkLst>
            <pc:docMk/>
            <pc:sldMk cId="3764405840" sldId="278"/>
            <ac:spMk id="3" creationId="{4A7608B5-9906-EFCF-959A-E89FC2E3EE19}"/>
          </ac:spMkLst>
        </pc:spChg>
      </pc:sldChg>
      <pc:sldChg chg="addSp delSp modSp mod">
        <pc:chgData name="Rasika Patil" userId="e259d71080acc343" providerId="LiveId" clId="{908F7D51-A947-4C13-8772-68EB5218250E}" dt="2026-09-23T06:57:19.593" v="6" actId="14100"/>
        <pc:sldMkLst>
          <pc:docMk/>
          <pc:sldMk cId="2772501912" sldId="279"/>
        </pc:sldMkLst>
        <pc:picChg chg="add mod">
          <ac:chgData name="Rasika Patil" userId="e259d71080acc343" providerId="LiveId" clId="{908F7D51-A947-4C13-8772-68EB5218250E}" dt="2026-09-23T06:57:19.593" v="6" actId="14100"/>
          <ac:picMkLst>
            <pc:docMk/>
            <pc:sldMk cId="2772501912" sldId="279"/>
            <ac:picMk id="4" creationId="{158E6F3D-7D9A-74FB-3D45-2987DD075B74}"/>
          </ac:picMkLst>
        </pc:picChg>
        <pc:picChg chg="del">
          <ac:chgData name="Rasika Patil" userId="e259d71080acc343" providerId="LiveId" clId="{908F7D51-A947-4C13-8772-68EB5218250E}" dt="2026-09-23T06:56:19.008" v="0" actId="478"/>
          <ac:picMkLst>
            <pc:docMk/>
            <pc:sldMk cId="2772501912" sldId="279"/>
            <ac:picMk id="6" creationId="{4C7FC88A-B369-455A-F57A-122CC34E5233}"/>
          </ac:picMkLst>
        </pc:picChg>
      </pc:sldChg>
      <pc:sldChg chg="modSp mod">
        <pc:chgData name="Rasika Patil" userId="e259d71080acc343" providerId="LiveId" clId="{908F7D51-A947-4C13-8772-68EB5218250E}" dt="2026-09-23T07:24:49.402" v="133" actId="1076"/>
        <pc:sldMkLst>
          <pc:docMk/>
          <pc:sldMk cId="2290294991" sldId="285"/>
        </pc:sldMkLst>
        <pc:spChg chg="mod">
          <ac:chgData name="Rasika Patil" userId="e259d71080acc343" providerId="LiveId" clId="{908F7D51-A947-4C13-8772-68EB5218250E}" dt="2026-09-23T07:24:49.402" v="133" actId="1076"/>
          <ac:spMkLst>
            <pc:docMk/>
            <pc:sldMk cId="2290294991" sldId="285"/>
            <ac:spMk id="3" creationId="{527F30CC-07EF-8FCC-DA00-C9212F5DAECE}"/>
          </ac:spMkLst>
        </pc:spChg>
      </pc:sldChg>
      <pc:sldChg chg="modSp mod">
        <pc:chgData name="Rasika Patil" userId="e259d71080acc343" providerId="LiveId" clId="{908F7D51-A947-4C13-8772-68EB5218250E}" dt="2026-09-23T07:42:15.888" v="285" actId="20577"/>
        <pc:sldMkLst>
          <pc:docMk/>
          <pc:sldMk cId="2605851928" sldId="287"/>
        </pc:sldMkLst>
        <pc:spChg chg="mod">
          <ac:chgData name="Rasika Patil" userId="e259d71080acc343" providerId="LiveId" clId="{908F7D51-A947-4C13-8772-68EB5218250E}" dt="2026-09-23T07:42:15.888" v="28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 mod">
        <pc:chgData name="Rasika Patil" userId="e259d71080acc343" providerId="LiveId" clId="{908F7D51-A947-4C13-8772-68EB5218250E}" dt="2026-09-23T06:58:21.932" v="13" actId="14100"/>
        <pc:sldMkLst>
          <pc:docMk/>
          <pc:sldMk cId="755382" sldId="290"/>
        </pc:sldMkLst>
        <pc:picChg chg="add mod">
          <ac:chgData name="Rasika Patil" userId="e259d71080acc343" providerId="LiveId" clId="{908F7D51-A947-4C13-8772-68EB5218250E}" dt="2026-09-23T06:58:21.932" v="13" actId="14100"/>
          <ac:picMkLst>
            <pc:docMk/>
            <pc:sldMk cId="755382" sldId="290"/>
            <ac:picMk id="4" creationId="{65E17DEF-A455-0593-B618-1DE0BA236648}"/>
          </ac:picMkLst>
        </pc:picChg>
        <pc:picChg chg="del">
          <ac:chgData name="Rasika Patil" userId="e259d71080acc343" providerId="LiveId" clId="{908F7D51-A947-4C13-8772-68EB5218250E}" dt="2026-09-23T06:57:52.404" v="7" actId="478"/>
          <ac:picMkLst>
            <pc:docMk/>
            <pc:sldMk cId="755382" sldId="290"/>
            <ac:picMk id="6" creationId="{A0D6461E-DA88-AFE8-EAFF-84E9A424BF26}"/>
          </ac:picMkLst>
        </pc:picChg>
      </pc:sldChg>
      <pc:sldChg chg="addSp delSp modSp mod">
        <pc:chgData name="Rasika Patil" userId="e259d71080acc343" providerId="LiveId" clId="{908F7D51-A947-4C13-8772-68EB5218250E}" dt="2026-09-23T07:01:26.635" v="21" actId="1076"/>
        <pc:sldMkLst>
          <pc:docMk/>
          <pc:sldMk cId="3146073034" sldId="291"/>
        </pc:sldMkLst>
        <pc:picChg chg="del">
          <ac:chgData name="Rasika Patil" userId="e259d71080acc343" providerId="LiveId" clId="{908F7D51-A947-4C13-8772-68EB5218250E}" dt="2026-09-23T07:01:06.885" v="14" actId="478"/>
          <ac:picMkLst>
            <pc:docMk/>
            <pc:sldMk cId="3146073034" sldId="291"/>
            <ac:picMk id="5" creationId="{6EA8F3D0-52BA-100E-3FD8-228494F48350}"/>
          </ac:picMkLst>
        </pc:picChg>
        <pc:picChg chg="add mod">
          <ac:chgData name="Rasika Patil" userId="e259d71080acc343" providerId="LiveId" clId="{908F7D51-A947-4C13-8772-68EB5218250E}" dt="2026-09-23T07:01:26.635" v="21" actId="1076"/>
          <ac:picMkLst>
            <pc:docMk/>
            <pc:sldMk cId="3146073034" sldId="291"/>
            <ac:picMk id="6" creationId="{2BC5E091-2290-433A-8A9D-6A3B46CF0E81}"/>
          </ac:picMkLst>
        </pc:picChg>
      </pc:sldChg>
      <pc:sldChg chg="addSp delSp modSp mod">
        <pc:chgData name="Rasika Patil" userId="e259d71080acc343" providerId="LiveId" clId="{908F7D51-A947-4C13-8772-68EB5218250E}" dt="2026-09-23T07:37:23.907" v="265"/>
        <pc:sldMkLst>
          <pc:docMk/>
          <pc:sldMk cId="3342156518" sldId="292"/>
        </pc:sldMkLst>
        <pc:spChg chg="del mod">
          <ac:chgData name="Rasika Patil" userId="e259d71080acc343" providerId="LiveId" clId="{908F7D51-A947-4C13-8772-68EB5218250E}" dt="2026-09-23T07:37:23.907" v="265"/>
          <ac:spMkLst>
            <pc:docMk/>
            <pc:sldMk cId="3342156518" sldId="292"/>
            <ac:spMk id="4" creationId="{878DC055-9DE8-731B-4573-E65371EBEDCA}"/>
          </ac:spMkLst>
        </pc:spChg>
        <pc:picChg chg="add mod">
          <ac:chgData name="Rasika Patil" userId="e259d71080acc343" providerId="LiveId" clId="{908F7D51-A947-4C13-8772-68EB5218250E}" dt="2026-09-23T07:37:19.006" v="263" actId="14100"/>
          <ac:picMkLst>
            <pc:docMk/>
            <pc:sldMk cId="3342156518" sldId="292"/>
            <ac:picMk id="5" creationId="{573BA0B9-AA82-3A9F-9C7C-D311EE4614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8AA45C4-2AC1-8517-1BC6-B4D76161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A1C5246-838D-B804-A56B-BC9B52B15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30678B-9A26-414A-24D2-5EADEA30F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39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Cloud and Orchestrate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12055452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Rasika Rajendra Patil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rashikapatil2802@gmail.com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9657126702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Smart Research Agent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</a:t>
            </a:r>
            <a:r>
              <a:rPr lang="en-US" sz="2400" b="1" dirty="0">
                <a:highlight>
                  <a:srgbClr val="FFFF00"/>
                </a:highlight>
              </a:rPr>
              <a:t>[Research Agent]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47600-AA43-3F9F-319B-172CC0B2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094" y="3599621"/>
            <a:ext cx="1261640" cy="10751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Research Agent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Challenge:</a:t>
            </a:r>
            <a:endParaRPr lang="en-US" dirty="0"/>
          </a:p>
          <a:p>
            <a:r>
              <a:rPr lang="en-IN" dirty="0"/>
              <a:t>         Researchers, students, and professionals often struggle to find relevant information from a large number of research papers, journals, articles, and online resources. Collecting, </a:t>
            </a:r>
            <a:r>
              <a:rPr lang="en-IN" dirty="0" err="1"/>
              <a:t>analyzing</a:t>
            </a:r>
            <a:r>
              <a:rPr lang="en-IN" dirty="0"/>
              <a:t>, and summarizing information from multiple sources is time-consuming and inefficient. It becomes difficult to identify important insights, research trends, and knowledge gaps. Therefore, there is a need for an intelligent Research Agent that can automatically gather information, </a:t>
            </a:r>
            <a:r>
              <a:rPr lang="en-IN" dirty="0" err="1"/>
              <a:t>analyze</a:t>
            </a:r>
            <a:r>
              <a:rPr lang="en-IN" dirty="0"/>
              <a:t> data, and provide meaningful research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The Objective: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Collect information from multiple research sources.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 automatic summaries of research papers.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research trends and knowledge gaps.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 actionable insights and recommendations.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Visualize research findings through an interactive dashboard.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310601" y="1057598"/>
            <a:ext cx="106070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AI-Powered Nutrition Agent</a:t>
            </a:r>
          </a:p>
          <a:p>
            <a:r>
              <a:rPr lang="en-IN" dirty="0"/>
              <a:t>   </a:t>
            </a:r>
          </a:p>
          <a:p>
            <a:r>
              <a:rPr lang="en-IN" dirty="0"/>
              <a:t>     The proposed solution is an AI-powered Nutrition Agent that helps users maintain a healthy lifestyle by providing personalized nutrition recommendations. The system </a:t>
            </a:r>
            <a:r>
              <a:rPr lang="en-IN" dirty="0" err="1"/>
              <a:t>analyzes</a:t>
            </a:r>
            <a:r>
              <a:rPr lang="en-IN" dirty="0"/>
              <a:t> user information such as age, weight, height, dietary preferences, and health goals to generate customized meal plans and nutritional guidance.</a:t>
            </a:r>
          </a:p>
          <a:p>
            <a:endParaRPr lang="en-IN" dirty="0"/>
          </a:p>
          <a:p>
            <a:r>
              <a:rPr lang="en-IN" b="1" dirty="0"/>
              <a:t> The Nutrition Agent can: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Recommend personalized diet plans.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Calculate BMI, BMR, and daily calorie requirements.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Suggest healthy food alternatives.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Track daily nutrition intake.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 health and wellness insights using AI.</a:t>
            </a:r>
          </a:p>
          <a:p>
            <a:pPr lvl="0"/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Answer nutrition-related queries in real time. </a:t>
            </a:r>
          </a:p>
          <a:p>
            <a:pPr lvl="0"/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solution helps users make informed dietary decisions and improve their overall health through intelligent and data-driven recommendations.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55752" y="21640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610092" y="111007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Used: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688259" y="658762"/>
            <a:ext cx="10604582" cy="52322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dirty="0"/>
              <a:t>• </a:t>
            </a:r>
            <a:r>
              <a:rPr lang="en-IN" sz="1600" b="1" dirty="0" err="1"/>
              <a:t>Langflow</a:t>
            </a:r>
            <a:r>
              <a:rPr lang="en-IN" sz="1600" b="1" dirty="0"/>
              <a:t> Platform</a:t>
            </a:r>
            <a:r>
              <a:rPr lang="en-IN" sz="1600" dirty="0"/>
              <a:t> – Used to create and manage AI agent workflows through a visual drag-and-drop interface.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IBM Granite Model</a:t>
            </a:r>
            <a:r>
              <a:rPr lang="en-IN" sz="1600" dirty="0"/>
              <a:t> – Processes user research queries, understands context, and generates accurate summaries and insights.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IBM Watsonx.ai</a:t>
            </a:r>
            <a:r>
              <a:rPr lang="en-IN" sz="1600" dirty="0"/>
              <a:t> – Provides tools for developing, deploying, and managing AI models efficiently.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Research Knowledge Base</a:t>
            </a:r>
            <a:r>
              <a:rPr lang="en-IN" sz="1600" dirty="0"/>
              <a:t> – Stores research papers, journals, and academic content for information retrieval.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Vector Database (FAISS/Chroma)</a:t>
            </a:r>
            <a:r>
              <a:rPr lang="en-IN" sz="1600" dirty="0"/>
              <a:t> – Enables fast semantic search and retrieval of relevant research documents.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RAG (Retrieval-Augmented Generation)</a:t>
            </a:r>
            <a:r>
              <a:rPr lang="en-IN" sz="1600" dirty="0"/>
              <a:t> – Combines document retrieval with AI-generated responses for more accurate research results.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IBM Cloud</a:t>
            </a:r>
            <a:r>
              <a:rPr lang="en-IN" sz="1600" dirty="0"/>
              <a:t> – Hosts and scales the application while ensuring security and reliability.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Data Visualization Tools</a:t>
            </a:r>
            <a:r>
              <a:rPr lang="en-IN" sz="1600" dirty="0"/>
              <a:t> – Used to present research trends, citation analysis, and insights through charts and dashboards.</a:t>
            </a:r>
          </a:p>
          <a:p>
            <a:endParaRPr lang="en-IN" sz="1600" dirty="0"/>
          </a:p>
          <a:p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Orchestrate component Used :-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5411" y="863187"/>
            <a:ext cx="954739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1)Chat Input</a:t>
            </a:r>
            <a:r>
              <a:rPr lang="en-IN" dirty="0"/>
              <a:t> – Interface where users enter research topics, questions, keywords, or upload research documents for analysis.</a:t>
            </a:r>
          </a:p>
          <a:p>
            <a:pPr marL="342900" indent="-342900">
              <a:buAutoNum type="arabicParenR"/>
            </a:pPr>
            <a:endParaRPr lang="en-IN" dirty="0"/>
          </a:p>
          <a:p>
            <a:r>
              <a:rPr lang="en-IN" b="1" dirty="0"/>
              <a:t>2) IBM </a:t>
            </a:r>
            <a:r>
              <a:rPr lang="en-IN" b="1" dirty="0" err="1"/>
              <a:t>watsonx</a:t>
            </a:r>
            <a:r>
              <a:rPr lang="en-IN" b="1" dirty="0"/>
              <a:t> AI Agent</a:t>
            </a:r>
            <a:r>
              <a:rPr lang="en-IN" dirty="0"/>
              <a:t> – Processes research queries using AI models to understand the context, </a:t>
            </a:r>
            <a:r>
              <a:rPr lang="en-IN" dirty="0" err="1"/>
              <a:t>analyze</a:t>
            </a:r>
            <a:r>
              <a:rPr lang="en-IN" dirty="0"/>
              <a:t> information, and generate research insights.</a:t>
            </a:r>
          </a:p>
          <a:p>
            <a:endParaRPr lang="en-IN" dirty="0"/>
          </a:p>
          <a:p>
            <a:r>
              <a:rPr lang="en-IN" b="1" dirty="0"/>
              <a:t>3) Name of IBM Granite Model</a:t>
            </a:r>
            <a:r>
              <a:rPr lang="en-IN" dirty="0"/>
              <a:t> – </a:t>
            </a:r>
            <a:r>
              <a:rPr lang="en-IN" b="1" dirty="0"/>
              <a:t>Granite-4.0-8B-Instruct</a:t>
            </a:r>
            <a:r>
              <a:rPr lang="en-IN" dirty="0"/>
              <a:t> → Optimized for document analysis, summarization, question answering, and knowledge extraction.</a:t>
            </a:r>
          </a:p>
          <a:p>
            <a:endParaRPr lang="en-IN" dirty="0"/>
          </a:p>
          <a:p>
            <a:r>
              <a:rPr lang="en-IN" b="1" dirty="0"/>
              <a:t>4) Chat Output</a:t>
            </a:r>
            <a:r>
              <a:rPr lang="en-IN" dirty="0"/>
              <a:t> – Displays AI-generated summaries, key findings, research trends, related studies, and recommendations.</a:t>
            </a:r>
          </a:p>
          <a:p>
            <a:endParaRPr lang="en-IN" dirty="0"/>
          </a:p>
          <a:p>
            <a:r>
              <a:rPr lang="en-IN" b="1" dirty="0"/>
              <a:t>5) File Component</a:t>
            </a:r>
            <a:r>
              <a:rPr lang="en-IN" dirty="0"/>
              <a:t> – Stores and retrieves research papers, academic articles, reports, and datasets for processing and analysis.</a:t>
            </a:r>
          </a:p>
          <a:p>
            <a:endParaRPr lang="en-IN" dirty="0"/>
          </a:p>
          <a:p>
            <a:r>
              <a:rPr lang="en-IN" b="1" dirty="0"/>
              <a:t>6) Data Storage Component</a:t>
            </a:r>
            <a:r>
              <a:rPr lang="en-IN" dirty="0"/>
              <a:t> – Maintains research documents, extracted insights, and user activity records.</a:t>
            </a:r>
          </a:p>
          <a:p>
            <a:endParaRPr lang="en-IN" b="1" dirty="0"/>
          </a:p>
          <a:p>
            <a:r>
              <a:rPr lang="en-IN" b="1" dirty="0"/>
              <a:t>7) Visualization &amp; Reporting Component</a:t>
            </a:r>
            <a:r>
              <a:rPr lang="en-IN" dirty="0"/>
              <a:t> – Generates charts, trend reports, and dashboards for better understanding of research outcomes.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Agent Instructions Screenshot-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E6F3D-7D9A-74FB-3D45-2987DD075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" y="1026160"/>
            <a:ext cx="11308080" cy="52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458060A-E278-BD66-87FB-2E75164B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4B8BE564-07ED-5E4D-A85D-C78B8A391EE9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Document Uploaded Screenshot (If applicable)-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17DEF-A455-0593-B618-1DE0BA236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76960"/>
            <a:ext cx="10586720" cy="522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ym typeface="Times New Roman"/>
              </a:rPr>
              <a:t>Prompt with output Screenshot: 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DC055-9DE8-731B-4573-E65371EBEDCA}"/>
              </a:ext>
            </a:extLst>
          </p:cNvPr>
          <p:cNvSpPr txBox="1"/>
          <p:nvPr/>
        </p:nvSpPr>
        <p:spPr>
          <a:xfrm>
            <a:off x="1375037" y="1172400"/>
            <a:ext cx="84919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-Use</a:t>
            </a:r>
            <a:r>
              <a:rPr lang="en-US" sz="2000">
                <a:solidFill>
                  <a:srgbClr val="FF0000"/>
                </a:solidFill>
              </a:rPr>
              <a:t> different slides for multiple screenshots 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5E091-2290-433A-8A9D-6A3B46CF0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0" y="989520"/>
            <a:ext cx="10698480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ym typeface="Times New Roman"/>
              </a:rPr>
              <a:t>Other Applicable Screenshots: 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BA0B9-AA82-3A9F-9C7C-D311EE461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89" y="1076445"/>
            <a:ext cx="11037095" cy="519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56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 architecture blueprint</a:t>
            </a:r>
            <a:endParaRPr lang="en-US" sz="2400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26918-899B-6B59-1A39-8DF9AA5D0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1" y="1056639"/>
            <a:ext cx="10445370" cy="53746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278843" y="234303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solution: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4308" y="1246151"/>
            <a:ext cx="74066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Nutrition Agent:</a:t>
            </a:r>
          </a:p>
          <a:p>
            <a:endParaRPr lang="en-US" b="1" dirty="0"/>
          </a:p>
          <a:p>
            <a:r>
              <a:rPr lang="en-IN" dirty="0"/>
              <a:t>     Agentic AI acts as an intelligent research assistant that can independently perform multiple research-related tasks. It understands user queries, retrieves relevant information from research sources, </a:t>
            </a:r>
            <a:r>
              <a:rPr lang="en-IN" dirty="0" err="1"/>
              <a:t>analyzes</a:t>
            </a:r>
            <a:r>
              <a:rPr lang="en-IN" dirty="0"/>
              <a:t> documents, generates summaries, and provides meaningful insights. By automating these activities, Agentic AI reduces manual effort, improves research efficiency, and helps users make informed decisions faster</a:t>
            </a:r>
            <a:r>
              <a:rPr lang="en-US" dirty="0"/>
              <a:t>.</a:t>
            </a:r>
          </a:p>
          <a:p>
            <a:r>
              <a:rPr lang="en-IN" dirty="0"/>
              <a:t>   Agentic AI serves as the core intelligence of the Research Agent. It can independently plan, execute, and manage research-related tasks without requiring constant user intervention. The system gathers information, </a:t>
            </a:r>
            <a:r>
              <a:rPr lang="en-IN" dirty="0" err="1"/>
              <a:t>analyzes</a:t>
            </a:r>
            <a:r>
              <a:rPr lang="en-IN" dirty="0"/>
              <a:t> content, generates insights, and provides meaningful recommendations.</a:t>
            </a:r>
          </a:p>
          <a:p>
            <a:r>
              <a:rPr lang="en-IN" b="1" dirty="0"/>
              <a:t>Example:</a:t>
            </a:r>
            <a:r>
              <a:rPr lang="en-IN" dirty="0"/>
              <a:t> When a user searches </a:t>
            </a:r>
            <a:r>
              <a:rPr lang="en-IN" i="1" dirty="0"/>
              <a:t>"AI in Healthcare"</a:t>
            </a:r>
            <a:r>
              <a:rPr lang="en-IN" dirty="0"/>
              <a:t>, the Agentic AI automatically retrieves relevant research papers, summarizes key findings, identifies trends, and provides actionable insights.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383950" y="0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Uniqueness: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380852" y="530942"/>
            <a:ext cx="1143029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 The proposed </a:t>
            </a:r>
            <a:r>
              <a:rPr lang="en-IN" sz="1800" b="1" dirty="0"/>
              <a:t>Research Agent</a:t>
            </a:r>
            <a:r>
              <a:rPr lang="en-IN" sz="1800" dirty="0"/>
              <a:t> stands out by combining </a:t>
            </a:r>
            <a:r>
              <a:rPr lang="en-IN" sz="1800" b="1" dirty="0"/>
              <a:t>Agentic AI, RAG, Multi-Agent Collaboration, and Intelligent Research Analytics</a:t>
            </a:r>
            <a:r>
              <a:rPr lang="en-IN" sz="1800" dirty="0"/>
              <a:t> into a single platform.</a:t>
            </a:r>
          </a:p>
          <a:p>
            <a:endParaRPr lang="en-IN" sz="1800" dirty="0"/>
          </a:p>
          <a:p>
            <a:r>
              <a:rPr lang="en-IN" sz="1800" b="1" dirty="0"/>
              <a:t>Multi-Agent Intelligence</a:t>
            </a:r>
            <a:r>
              <a:rPr lang="en-IN" sz="1800" dirty="0"/>
              <a:t> – Multiple specialized agents work together for document retrieval, content analysis, summarization, and insight generation.</a:t>
            </a:r>
          </a:p>
          <a:p>
            <a:endParaRPr lang="en-IN" sz="1800" dirty="0"/>
          </a:p>
          <a:p>
            <a:r>
              <a:rPr lang="en-IN" sz="1800" b="1" dirty="0"/>
              <a:t>RAG-Based Research Accuracy</a:t>
            </a:r>
            <a:r>
              <a:rPr lang="en-IN" sz="1800" dirty="0"/>
              <a:t> – Combines real-time document retrieval with AI-generated responses, ensuring accurate and evidence-based research results.</a:t>
            </a:r>
          </a:p>
          <a:p>
            <a:endParaRPr lang="en-IN" sz="1800" dirty="0"/>
          </a:p>
          <a:p>
            <a:r>
              <a:rPr lang="en-IN" sz="1800" b="1" dirty="0"/>
              <a:t>Automated Knowledge Discovery</a:t>
            </a:r>
            <a:r>
              <a:rPr lang="en-IN" sz="1800" dirty="0"/>
              <a:t> – Identifies hidden patterns, relationships, and emerging trends across multiple research papers.</a:t>
            </a:r>
          </a:p>
          <a:p>
            <a:endParaRPr lang="en-IN" sz="1800" dirty="0"/>
          </a:p>
          <a:p>
            <a:r>
              <a:rPr lang="en-IN" sz="1800" b="1" dirty="0"/>
              <a:t>Smart Research Summarization</a:t>
            </a:r>
            <a:r>
              <a:rPr lang="en-IN" sz="1800" dirty="0"/>
              <a:t> – Converts lengthy academic papers into concise, easy-to-understand summaries.</a:t>
            </a:r>
          </a:p>
          <a:p>
            <a:endParaRPr lang="en-IN" sz="1800" dirty="0"/>
          </a:p>
          <a:p>
            <a:r>
              <a:rPr lang="en-IN" sz="1800" b="1" dirty="0"/>
              <a:t>Research Gap Identification</a:t>
            </a:r>
            <a:r>
              <a:rPr lang="en-IN" sz="1800" dirty="0"/>
              <a:t> – Detects unexplored areas and suggests potential future research opportunities.</a:t>
            </a:r>
          </a:p>
          <a:p>
            <a:endParaRPr lang="en-IN" sz="1800" dirty="0"/>
          </a:p>
          <a:p>
            <a:r>
              <a:rPr lang="en-IN" sz="1800" b="1" dirty="0"/>
              <a:t>Intelligent Recommendation Engine</a:t>
            </a:r>
            <a:r>
              <a:rPr lang="en-IN" sz="1800" dirty="0"/>
              <a:t> – Recommends related papers, topics, and references based on user interests and research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363794" y="1"/>
            <a:ext cx="7299426" cy="1124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Scope: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589935" y="717755"/>
            <a:ext cx="9843369" cy="614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600" b="1" dirty="0"/>
              <a:t>AI-Powered Research Collaboration</a:t>
            </a:r>
            <a:r>
              <a:rPr lang="en-IN" sz="1600" dirty="0"/>
              <a:t> – Enable multiple researchers to collaborate, share findings, and work on research projects in real time.</a:t>
            </a:r>
          </a:p>
          <a:p>
            <a:endParaRPr lang="en-IN" sz="1600" dirty="0"/>
          </a:p>
          <a:p>
            <a:r>
              <a:rPr lang="en-IN" sz="1600" b="1" dirty="0"/>
              <a:t>Multi-Language Research Support</a:t>
            </a:r>
            <a:r>
              <a:rPr lang="en-IN" sz="1600" dirty="0"/>
              <a:t> – Support research papers and queries in multiple languages for global accessibility.</a:t>
            </a:r>
          </a:p>
          <a:p>
            <a:endParaRPr lang="en-IN" sz="1600" dirty="0"/>
          </a:p>
          <a:p>
            <a:r>
              <a:rPr lang="en-IN" sz="1600" b="1" dirty="0"/>
              <a:t>Voice-Based Research Assistant</a:t>
            </a:r>
            <a:r>
              <a:rPr lang="en-IN" sz="1600" dirty="0"/>
              <a:t> – Allow users to interact with the Research Agent using voice commands and speech-based queries.</a:t>
            </a:r>
          </a:p>
          <a:p>
            <a:endParaRPr lang="en-IN" sz="1600" dirty="0"/>
          </a:p>
          <a:p>
            <a:r>
              <a:rPr lang="en-IN" sz="1600" b="1" dirty="0"/>
              <a:t>Advanced Citation &amp; Reference Management</a:t>
            </a:r>
            <a:r>
              <a:rPr lang="en-IN" sz="1600" dirty="0"/>
              <a:t> – Automatically generate citations, references, and bibliographies in different academic formats.</a:t>
            </a:r>
          </a:p>
          <a:p>
            <a:endParaRPr lang="en-IN" sz="1600" dirty="0"/>
          </a:p>
          <a:p>
            <a:r>
              <a:rPr lang="en-IN" sz="1600" b="1" dirty="0"/>
              <a:t>Predictive Research Analytics</a:t>
            </a:r>
            <a:r>
              <a:rPr lang="en-IN" sz="1600" dirty="0"/>
              <a:t> – Forecast emerging research trends and identify future opportunities in various domains.</a:t>
            </a:r>
          </a:p>
          <a:p>
            <a:endParaRPr lang="en-IN" sz="1600" dirty="0"/>
          </a:p>
          <a:p>
            <a:r>
              <a:rPr lang="en-IN" sz="1600" b="1" dirty="0"/>
              <a:t>Integration with Research Databases</a:t>
            </a:r>
            <a:r>
              <a:rPr lang="en-IN" sz="1600" dirty="0"/>
              <a:t> – Connect with digital libraries, journals, and academic repositories for broader knowledge access.</a:t>
            </a:r>
          </a:p>
          <a:p>
            <a:endParaRPr lang="en-IN" sz="1600" dirty="0"/>
          </a:p>
          <a:p>
            <a:r>
              <a:rPr lang="en-IN" sz="1600" b="1" dirty="0"/>
              <a:t>Personalized Research Recommendations</a:t>
            </a:r>
            <a:r>
              <a:rPr lang="en-IN" sz="1600" dirty="0"/>
              <a:t> – Suggest papers, authors, and topics based on user interests and previous searches.</a:t>
            </a:r>
          </a:p>
          <a:p>
            <a:endParaRPr lang="en-IN" sz="1600" dirty="0"/>
          </a:p>
          <a:p>
            <a:r>
              <a:rPr lang="en-IN" sz="1600" b="1" dirty="0"/>
              <a:t>Real-Time Research Monitoring</a:t>
            </a:r>
            <a:r>
              <a:rPr lang="en-IN" sz="1600" dirty="0"/>
              <a:t> – Track newly published papers and notify users about relevant updates and discoveries</a:t>
            </a:r>
            <a:r>
              <a:rPr lang="en-IN" sz="2000" dirty="0"/>
              <a:t>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E93A9A-83D2-F8BF-1F8F-51916557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597" y="1367169"/>
            <a:ext cx="8680806" cy="495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842F75-5788-987A-FAA2-D7195FB17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599" y="1477578"/>
            <a:ext cx="8898193" cy="473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1128</Words>
  <Application>Microsoft Office PowerPoint</Application>
  <PresentationFormat>Widescreen</PresentationFormat>
  <Paragraphs>143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Rasika Patil</cp:lastModifiedBy>
  <cp:revision>99</cp:revision>
  <dcterms:created xsi:type="dcterms:W3CDTF">2025-07-08T05:06:56Z</dcterms:created>
  <dcterms:modified xsi:type="dcterms:W3CDTF">2026-09-23T07:42:24Z</dcterms:modified>
</cp:coreProperties>
</file>